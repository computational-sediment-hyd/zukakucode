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6096000" cy="6913563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1836" y="5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95008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1358" y="137160"/>
            <a:ext cx="5808431" cy="475488"/>
          </a:xfrm>
          <a:prstGeom prst="rect">
            <a:avLst/>
          </a:prstGeom>
          <a:solidFill>
            <a:srgbClr val="1A3A6E"/>
          </a:solidFill>
          <a:ln w="12700">
            <a:solidFill>
              <a:srgbClr val="1A3A6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133350" y="137160"/>
            <a:ext cx="5806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国土基本図の図郭階層構造　―　コード識別規則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31359" y="670295"/>
            <a:ext cx="45720" cy="219456"/>
          </a:xfrm>
          <a:prstGeom prst="rect">
            <a:avLst/>
          </a:prstGeom>
          <a:solidFill>
            <a:srgbClr val="1A3A6E"/>
          </a:solidFill>
          <a:ln w="12700">
            <a:solidFill>
              <a:srgbClr val="1A3A6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222799" y="670295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レベル一覧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9029296"/>
              </p:ext>
            </p:extLst>
          </p:nvPr>
        </p:nvGraphicFramePr>
        <p:xfrm>
          <a:off x="131359" y="942229"/>
          <a:ext cx="5561542" cy="1645920"/>
        </p:xfrm>
        <a:graphic>
          <a:graphicData uri="http://schemas.openxmlformats.org/drawingml/2006/table">
            <a:tbl>
              <a:tblPr/>
              <a:tblGrid>
                <a:gridCol w="6179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35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86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214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048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レベル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コード形式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サイズ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分割・備考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048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A3A6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50000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8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4桁（系番号2桁＋行列2桁）</a:t>
                      </a:r>
                      <a:endParaRPr lang="en-US" sz="8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8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30×40km</a:t>
                      </a:r>
                      <a:endParaRPr lang="en-US" sz="8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8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10×10分割→Lv.5000</a:t>
                      </a:r>
                      <a:endParaRPr lang="en-US" sz="8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048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A3A6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5000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5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6桁（50000コード＋00〜99）</a:t>
                      </a:r>
                      <a:endParaRPr lang="en-US" sz="8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5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3×4km</a:t>
                      </a:r>
                      <a:endParaRPr lang="en-US" sz="8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5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2×2分割→Lv.2500</a:t>
                      </a:r>
                      <a:endParaRPr lang="en-US" sz="8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5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048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A3A6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2500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7桁（5000コード＋1〜4）</a:t>
                      </a:r>
                      <a:endParaRPr lang="en-US" sz="8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1.5×2km</a:t>
                      </a:r>
                      <a:endParaRPr lang="en-US" sz="8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2×2分割→Lv.1250</a:t>
                      </a:r>
                      <a:endParaRPr lang="en-US" sz="8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048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C05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1250★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E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8桁・末尾数字（2500コード＋1〜4）</a:t>
                      </a:r>
                      <a:endParaRPr lang="en-US" sz="8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E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750m×1km</a:t>
                      </a:r>
                      <a:endParaRPr lang="en-US" sz="8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E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C05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準則外。自治体独自採用あり</a:t>
                      </a:r>
                      <a:endParaRPr lang="en-US" sz="8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E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048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A3A6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1000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8桁・末尾英字（5000コード＋A〜Y）</a:t>
                      </a:r>
                      <a:endParaRPr lang="en-US" sz="8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600×800m</a:t>
                      </a:r>
                      <a:endParaRPr lang="en-US" sz="8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5×5分割（25区画）</a:t>
                      </a:r>
                      <a:endParaRPr lang="en-US" sz="8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048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A3A6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500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8桁・末尾数字（5000コード＋00〜99）</a:t>
                      </a:r>
                      <a:endParaRPr lang="en-US" sz="8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300×400m</a:t>
                      </a:r>
                      <a:endParaRPr lang="en-US" sz="8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10×10分割（100区画）</a:t>
                      </a:r>
                      <a:endParaRPr lang="en-US" sz="8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0C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C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133350" y="2634271"/>
            <a:ext cx="45720" cy="219456"/>
          </a:xfrm>
          <a:prstGeom prst="rect">
            <a:avLst/>
          </a:prstGeom>
          <a:solidFill>
            <a:srgbClr val="1A3A6E"/>
          </a:solidFill>
          <a:ln w="12700">
            <a:solidFill>
              <a:srgbClr val="1A3A6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Text 5"/>
          <p:cNvSpPr/>
          <p:nvPr/>
        </p:nvSpPr>
        <p:spPr>
          <a:xfrm>
            <a:off x="224790" y="2634271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各レベルの詳細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133350" y="2890303"/>
            <a:ext cx="2743200" cy="658368"/>
          </a:xfrm>
          <a:prstGeom prst="rect">
            <a:avLst/>
          </a:prstGeom>
          <a:solidFill>
            <a:srgbClr val="DDE8F5"/>
          </a:solidFill>
          <a:ln w="12700">
            <a:solidFill>
              <a:srgbClr val="C0C8D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7"/>
          <p:cNvSpPr/>
          <p:nvPr/>
        </p:nvSpPr>
        <p:spPr>
          <a:xfrm>
            <a:off x="133350" y="2890303"/>
            <a:ext cx="45720" cy="658368"/>
          </a:xfrm>
          <a:prstGeom prst="rect">
            <a:avLst/>
          </a:prstGeom>
          <a:solidFill>
            <a:srgbClr val="1A3A6E"/>
          </a:solidFill>
          <a:ln w="12700">
            <a:solidFill>
              <a:srgbClr val="1A3A6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Text 8"/>
          <p:cNvSpPr/>
          <p:nvPr/>
        </p:nvSpPr>
        <p:spPr>
          <a:xfrm>
            <a:off x="215646" y="2926879"/>
            <a:ext cx="2633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3A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Lv.50000　4桁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215646" y="3146335"/>
            <a:ext cx="261518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系番号2桁＋行列2桁。例：09LD＝第9系L行D列。隣接区画は1文字変化。</a:t>
            </a:r>
            <a:endParaRPr lang="en-US" sz="750" dirty="0"/>
          </a:p>
        </p:txBody>
      </p:sp>
      <p:sp>
        <p:nvSpPr>
          <p:cNvPr id="13" name="Shape 10"/>
          <p:cNvSpPr/>
          <p:nvPr/>
        </p:nvSpPr>
        <p:spPr>
          <a:xfrm>
            <a:off x="2949702" y="2890303"/>
            <a:ext cx="2743200" cy="658368"/>
          </a:xfrm>
          <a:prstGeom prst="rect">
            <a:avLst/>
          </a:prstGeom>
          <a:solidFill>
            <a:srgbClr val="DDF5E8"/>
          </a:solidFill>
          <a:ln w="12700">
            <a:solidFill>
              <a:srgbClr val="C0C8D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Shape 11"/>
          <p:cNvSpPr/>
          <p:nvPr/>
        </p:nvSpPr>
        <p:spPr>
          <a:xfrm>
            <a:off x="2949702" y="2890303"/>
            <a:ext cx="45720" cy="658368"/>
          </a:xfrm>
          <a:prstGeom prst="rect">
            <a:avLst/>
          </a:prstGeom>
          <a:solidFill>
            <a:srgbClr val="1A3A6E"/>
          </a:solidFill>
          <a:ln w="12700">
            <a:solidFill>
              <a:srgbClr val="1A3A6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2"/>
          <p:cNvSpPr/>
          <p:nvPr/>
        </p:nvSpPr>
        <p:spPr>
          <a:xfrm>
            <a:off x="3031998" y="2926879"/>
            <a:ext cx="2633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3A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Lv.5000　6桁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3031998" y="3146335"/>
            <a:ext cx="261518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10×10分割。左上=00、行方向増加。例：09LD35＝上4・左6列目。</a:t>
            </a:r>
            <a:endParaRPr lang="en-US" sz="750" dirty="0"/>
          </a:p>
        </p:txBody>
      </p:sp>
      <p:sp>
        <p:nvSpPr>
          <p:cNvPr id="17" name="Shape 14"/>
          <p:cNvSpPr/>
          <p:nvPr/>
        </p:nvSpPr>
        <p:spPr>
          <a:xfrm>
            <a:off x="133350" y="3603535"/>
            <a:ext cx="2743200" cy="658368"/>
          </a:xfrm>
          <a:prstGeom prst="rect">
            <a:avLst/>
          </a:prstGeom>
          <a:solidFill>
            <a:srgbClr val="F5F5DD"/>
          </a:solidFill>
          <a:ln w="12700">
            <a:solidFill>
              <a:srgbClr val="C0C8D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Shape 15"/>
          <p:cNvSpPr/>
          <p:nvPr/>
        </p:nvSpPr>
        <p:spPr>
          <a:xfrm>
            <a:off x="133350" y="3603535"/>
            <a:ext cx="45720" cy="658368"/>
          </a:xfrm>
          <a:prstGeom prst="rect">
            <a:avLst/>
          </a:prstGeom>
          <a:solidFill>
            <a:srgbClr val="1A3A6E"/>
          </a:solidFill>
          <a:ln w="12700">
            <a:solidFill>
              <a:srgbClr val="1A3A6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Text 16"/>
          <p:cNvSpPr/>
          <p:nvPr/>
        </p:nvSpPr>
        <p:spPr>
          <a:xfrm>
            <a:off x="215646" y="3640111"/>
            <a:ext cx="2633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3A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Lv.2500　7桁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215646" y="3859567"/>
            <a:ext cx="261518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2×2分割。例：09LD352＝09LD35の右上区画。</a:t>
            </a:r>
            <a:endParaRPr lang="en-US" sz="750" dirty="0"/>
          </a:p>
        </p:txBody>
      </p:sp>
      <p:sp>
        <p:nvSpPr>
          <p:cNvPr id="21" name="Shape 18"/>
          <p:cNvSpPr/>
          <p:nvPr/>
        </p:nvSpPr>
        <p:spPr>
          <a:xfrm>
            <a:off x="2949702" y="3603535"/>
            <a:ext cx="2743200" cy="658368"/>
          </a:xfrm>
          <a:prstGeom prst="rect">
            <a:avLst/>
          </a:prstGeom>
          <a:solidFill>
            <a:srgbClr val="FAEEDA"/>
          </a:solidFill>
          <a:ln w="12700">
            <a:solidFill>
              <a:srgbClr val="C0C8D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Shape 19"/>
          <p:cNvSpPr/>
          <p:nvPr/>
        </p:nvSpPr>
        <p:spPr>
          <a:xfrm>
            <a:off x="2949702" y="3603535"/>
            <a:ext cx="45720" cy="658368"/>
          </a:xfrm>
          <a:prstGeom prst="rect">
            <a:avLst/>
          </a:prstGeom>
          <a:solidFill>
            <a:srgbClr val="C05000"/>
          </a:solidFill>
          <a:ln w="12700">
            <a:solidFill>
              <a:srgbClr val="C0500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3" name="Text 20"/>
          <p:cNvSpPr/>
          <p:nvPr/>
        </p:nvSpPr>
        <p:spPr>
          <a:xfrm>
            <a:off x="3031998" y="3640111"/>
            <a:ext cx="2633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050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Lv.1250★　8桁（末尾数字）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3031998" y="3859567"/>
            <a:ext cx="261518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2×2分割。旧「四次区画」相当。準則非収録。自治体独自採用あり。</a:t>
            </a:r>
            <a:endParaRPr lang="en-US" sz="750" dirty="0"/>
          </a:p>
        </p:txBody>
      </p:sp>
      <p:sp>
        <p:nvSpPr>
          <p:cNvPr id="25" name="Shape 22"/>
          <p:cNvSpPr/>
          <p:nvPr/>
        </p:nvSpPr>
        <p:spPr>
          <a:xfrm>
            <a:off x="133350" y="4316767"/>
            <a:ext cx="2743200" cy="658368"/>
          </a:xfrm>
          <a:prstGeom prst="rect">
            <a:avLst/>
          </a:prstGeom>
          <a:solidFill>
            <a:srgbClr val="EEEDF9"/>
          </a:solidFill>
          <a:ln w="12700">
            <a:solidFill>
              <a:srgbClr val="C0C8D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Shape 23"/>
          <p:cNvSpPr/>
          <p:nvPr/>
        </p:nvSpPr>
        <p:spPr>
          <a:xfrm>
            <a:off x="133350" y="4316767"/>
            <a:ext cx="45720" cy="658368"/>
          </a:xfrm>
          <a:prstGeom prst="rect">
            <a:avLst/>
          </a:prstGeom>
          <a:solidFill>
            <a:srgbClr val="1A3A6E"/>
          </a:solidFill>
          <a:ln w="12700">
            <a:solidFill>
              <a:srgbClr val="1A3A6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7" name="Text 24"/>
          <p:cNvSpPr/>
          <p:nvPr/>
        </p:nvSpPr>
        <p:spPr>
          <a:xfrm>
            <a:off x="215646" y="4353343"/>
            <a:ext cx="2633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3A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Lv.1000　8桁（末尾英字）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215646" y="4572799"/>
            <a:ext cx="261518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5×5分割（25区画）。末尾英字で500/1250と区別可。例：09LD354E。</a:t>
            </a:r>
            <a:endParaRPr lang="en-US" sz="750" dirty="0"/>
          </a:p>
        </p:txBody>
      </p:sp>
      <p:sp>
        <p:nvSpPr>
          <p:cNvPr id="29" name="Shape 26"/>
          <p:cNvSpPr/>
          <p:nvPr/>
        </p:nvSpPr>
        <p:spPr>
          <a:xfrm>
            <a:off x="2949702" y="4316767"/>
            <a:ext cx="2743200" cy="658368"/>
          </a:xfrm>
          <a:prstGeom prst="rect">
            <a:avLst/>
          </a:prstGeom>
          <a:solidFill>
            <a:srgbClr val="FAECEA"/>
          </a:solidFill>
          <a:ln w="12700">
            <a:solidFill>
              <a:srgbClr val="C0C8D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0" name="Shape 27"/>
          <p:cNvSpPr/>
          <p:nvPr/>
        </p:nvSpPr>
        <p:spPr>
          <a:xfrm>
            <a:off x="2949702" y="4316767"/>
            <a:ext cx="45720" cy="658368"/>
          </a:xfrm>
          <a:prstGeom prst="rect">
            <a:avLst/>
          </a:prstGeom>
          <a:solidFill>
            <a:srgbClr val="1A3A6E"/>
          </a:solidFill>
          <a:ln w="12700">
            <a:solidFill>
              <a:srgbClr val="1A3A6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1" name="Text 28"/>
          <p:cNvSpPr/>
          <p:nvPr/>
        </p:nvSpPr>
        <p:spPr>
          <a:xfrm>
            <a:off x="3031998" y="4353343"/>
            <a:ext cx="2633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3A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Lv.500　8桁（末尾数字）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3031998" y="4572799"/>
            <a:ext cx="261518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10×10分割（100区画）。末尾数字は1250と要区別。例：09LD3599。</a:t>
            </a:r>
            <a:endParaRPr lang="en-US" sz="750" dirty="0"/>
          </a:p>
        </p:txBody>
      </p:sp>
      <p:sp>
        <p:nvSpPr>
          <p:cNvPr id="33" name="Shape 30"/>
          <p:cNvSpPr/>
          <p:nvPr/>
        </p:nvSpPr>
        <p:spPr>
          <a:xfrm>
            <a:off x="133350" y="5079298"/>
            <a:ext cx="45720" cy="219456"/>
          </a:xfrm>
          <a:prstGeom prst="rect">
            <a:avLst/>
          </a:prstGeom>
          <a:solidFill>
            <a:srgbClr val="1A3A6E"/>
          </a:solidFill>
          <a:ln w="12700">
            <a:solidFill>
              <a:srgbClr val="1A3A6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4" name="Text 31"/>
          <p:cNvSpPr/>
          <p:nvPr/>
        </p:nvSpPr>
        <p:spPr>
          <a:xfrm>
            <a:off x="224790" y="507929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コード識別の要点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133350" y="5353618"/>
            <a:ext cx="1335024" cy="868680"/>
          </a:xfrm>
          <a:prstGeom prst="rect">
            <a:avLst/>
          </a:prstGeom>
          <a:solidFill>
            <a:srgbClr val="DDE8F5"/>
          </a:solidFill>
          <a:ln w="12700">
            <a:solidFill>
              <a:srgbClr val="C0C8D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6" name="Shape 33"/>
          <p:cNvSpPr/>
          <p:nvPr/>
        </p:nvSpPr>
        <p:spPr>
          <a:xfrm>
            <a:off x="133350" y="5353618"/>
            <a:ext cx="1335024" cy="237744"/>
          </a:xfrm>
          <a:prstGeom prst="rect">
            <a:avLst/>
          </a:prstGeom>
          <a:solidFill>
            <a:srgbClr val="1A3A6E"/>
          </a:solidFill>
          <a:ln w="12700">
            <a:solidFill>
              <a:srgbClr val="1A3A6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7" name="Text 34"/>
          <p:cNvSpPr/>
          <p:nvPr/>
        </p:nvSpPr>
        <p:spPr>
          <a:xfrm>
            <a:off x="133350" y="5353618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6桁</a:t>
            </a:r>
            <a:endParaRPr lang="en-US" sz="850" dirty="0"/>
          </a:p>
        </p:txBody>
      </p:sp>
      <p:sp>
        <p:nvSpPr>
          <p:cNvPr id="38" name="Text 35"/>
          <p:cNvSpPr/>
          <p:nvPr/>
        </p:nvSpPr>
        <p:spPr>
          <a:xfrm>
            <a:off x="133350" y="5591362"/>
            <a:ext cx="13350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3A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↓</a:t>
            </a:r>
            <a:endParaRPr lang="en-US" sz="1100" dirty="0"/>
          </a:p>
        </p:txBody>
      </p:sp>
      <p:sp>
        <p:nvSpPr>
          <p:cNvPr id="39" name="Text 36"/>
          <p:cNvSpPr/>
          <p:nvPr/>
        </p:nvSpPr>
        <p:spPr>
          <a:xfrm>
            <a:off x="179070" y="5774242"/>
            <a:ext cx="12435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3A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Lv.5000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80822" y="6066850"/>
            <a:ext cx="640080" cy="137160"/>
          </a:xfrm>
          <a:prstGeom prst="roundRect">
            <a:avLst>
              <a:gd name="adj" fmla="val 26667"/>
            </a:avLst>
          </a:prstGeom>
          <a:solidFill>
            <a:srgbClr val="1A3A6E"/>
          </a:solidFill>
          <a:ln w="12700">
            <a:solidFill>
              <a:srgbClr val="1A3A6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Text 38"/>
          <p:cNvSpPr/>
          <p:nvPr/>
        </p:nvSpPr>
        <p:spPr>
          <a:xfrm>
            <a:off x="480822" y="6066850"/>
            <a:ext cx="640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一意</a:t>
            </a:r>
            <a:endParaRPr lang="en-US" sz="750" dirty="0"/>
          </a:p>
        </p:txBody>
      </p:sp>
      <p:sp>
        <p:nvSpPr>
          <p:cNvPr id="42" name="Shape 39"/>
          <p:cNvSpPr/>
          <p:nvPr/>
        </p:nvSpPr>
        <p:spPr>
          <a:xfrm>
            <a:off x="1532382" y="5353618"/>
            <a:ext cx="1335024" cy="868680"/>
          </a:xfrm>
          <a:prstGeom prst="rect">
            <a:avLst/>
          </a:prstGeom>
          <a:solidFill>
            <a:srgbClr val="F5F5DD"/>
          </a:solidFill>
          <a:ln w="12700">
            <a:solidFill>
              <a:srgbClr val="C0C8D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3" name="Shape 40"/>
          <p:cNvSpPr/>
          <p:nvPr/>
        </p:nvSpPr>
        <p:spPr>
          <a:xfrm>
            <a:off x="1532382" y="5353618"/>
            <a:ext cx="1335024" cy="237744"/>
          </a:xfrm>
          <a:prstGeom prst="rect">
            <a:avLst/>
          </a:prstGeom>
          <a:solidFill>
            <a:srgbClr val="1A3A6E"/>
          </a:solidFill>
          <a:ln w="12700">
            <a:solidFill>
              <a:srgbClr val="1A3A6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4" name="Text 41"/>
          <p:cNvSpPr/>
          <p:nvPr/>
        </p:nvSpPr>
        <p:spPr>
          <a:xfrm>
            <a:off x="1532382" y="5353618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7桁</a:t>
            </a:r>
            <a:endParaRPr lang="en-US" sz="850" dirty="0"/>
          </a:p>
        </p:txBody>
      </p:sp>
      <p:sp>
        <p:nvSpPr>
          <p:cNvPr id="45" name="Text 42"/>
          <p:cNvSpPr/>
          <p:nvPr/>
        </p:nvSpPr>
        <p:spPr>
          <a:xfrm>
            <a:off x="1532382" y="5591362"/>
            <a:ext cx="13350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3A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↓</a:t>
            </a:r>
            <a:endParaRPr lang="en-US" sz="1100" dirty="0"/>
          </a:p>
        </p:txBody>
      </p:sp>
      <p:sp>
        <p:nvSpPr>
          <p:cNvPr id="46" name="Text 43"/>
          <p:cNvSpPr/>
          <p:nvPr/>
        </p:nvSpPr>
        <p:spPr>
          <a:xfrm>
            <a:off x="1578102" y="5774242"/>
            <a:ext cx="12435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3A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Lv.2500</a:t>
            </a:r>
            <a:endParaRPr lang="en-US" sz="1100" dirty="0"/>
          </a:p>
        </p:txBody>
      </p:sp>
      <p:sp>
        <p:nvSpPr>
          <p:cNvPr id="47" name="Shape 44"/>
          <p:cNvSpPr/>
          <p:nvPr/>
        </p:nvSpPr>
        <p:spPr>
          <a:xfrm>
            <a:off x="1879854" y="6066850"/>
            <a:ext cx="640080" cy="137160"/>
          </a:xfrm>
          <a:prstGeom prst="roundRect">
            <a:avLst>
              <a:gd name="adj" fmla="val 26667"/>
            </a:avLst>
          </a:prstGeom>
          <a:solidFill>
            <a:srgbClr val="1A3A6E"/>
          </a:solidFill>
          <a:ln w="12700">
            <a:solidFill>
              <a:srgbClr val="1A3A6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8" name="Text 45"/>
          <p:cNvSpPr/>
          <p:nvPr/>
        </p:nvSpPr>
        <p:spPr>
          <a:xfrm>
            <a:off x="1879854" y="6066850"/>
            <a:ext cx="640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一意</a:t>
            </a:r>
            <a:endParaRPr lang="en-US" sz="750" dirty="0"/>
          </a:p>
        </p:txBody>
      </p:sp>
      <p:sp>
        <p:nvSpPr>
          <p:cNvPr id="49" name="Shape 46"/>
          <p:cNvSpPr/>
          <p:nvPr/>
        </p:nvSpPr>
        <p:spPr>
          <a:xfrm>
            <a:off x="2931414" y="5353618"/>
            <a:ext cx="1335024" cy="868680"/>
          </a:xfrm>
          <a:prstGeom prst="rect">
            <a:avLst/>
          </a:prstGeom>
          <a:solidFill>
            <a:srgbClr val="EEEDF9"/>
          </a:solidFill>
          <a:ln w="12700">
            <a:solidFill>
              <a:srgbClr val="C0C8D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0" name="Shape 47"/>
          <p:cNvSpPr/>
          <p:nvPr/>
        </p:nvSpPr>
        <p:spPr>
          <a:xfrm>
            <a:off x="2931414" y="5353618"/>
            <a:ext cx="1335024" cy="237744"/>
          </a:xfrm>
          <a:prstGeom prst="rect">
            <a:avLst/>
          </a:prstGeom>
          <a:solidFill>
            <a:srgbClr val="1A3A6E"/>
          </a:solidFill>
          <a:ln w="12700">
            <a:solidFill>
              <a:srgbClr val="1A3A6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1" name="Text 48"/>
          <p:cNvSpPr/>
          <p:nvPr/>
        </p:nvSpPr>
        <p:spPr>
          <a:xfrm>
            <a:off x="2931414" y="5353618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8桁・末尾英字</a:t>
            </a:r>
            <a:endParaRPr lang="en-US" sz="850" dirty="0"/>
          </a:p>
        </p:txBody>
      </p:sp>
      <p:sp>
        <p:nvSpPr>
          <p:cNvPr id="52" name="Text 49"/>
          <p:cNvSpPr/>
          <p:nvPr/>
        </p:nvSpPr>
        <p:spPr>
          <a:xfrm>
            <a:off x="2931414" y="5591362"/>
            <a:ext cx="13350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3A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↓</a:t>
            </a:r>
            <a:endParaRPr lang="en-US" sz="1100" dirty="0"/>
          </a:p>
        </p:txBody>
      </p:sp>
      <p:sp>
        <p:nvSpPr>
          <p:cNvPr id="53" name="Text 50"/>
          <p:cNvSpPr/>
          <p:nvPr/>
        </p:nvSpPr>
        <p:spPr>
          <a:xfrm>
            <a:off x="2977134" y="5774242"/>
            <a:ext cx="12435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3A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Lv.1000</a:t>
            </a:r>
            <a:endParaRPr lang="en-US" sz="1100" dirty="0"/>
          </a:p>
        </p:txBody>
      </p:sp>
      <p:sp>
        <p:nvSpPr>
          <p:cNvPr id="54" name="Shape 51"/>
          <p:cNvSpPr/>
          <p:nvPr/>
        </p:nvSpPr>
        <p:spPr>
          <a:xfrm>
            <a:off x="3278886" y="6066850"/>
            <a:ext cx="640080" cy="137160"/>
          </a:xfrm>
          <a:prstGeom prst="roundRect">
            <a:avLst>
              <a:gd name="adj" fmla="val 26667"/>
            </a:avLst>
          </a:prstGeom>
          <a:solidFill>
            <a:srgbClr val="1A3A6E"/>
          </a:solidFill>
          <a:ln w="12700">
            <a:solidFill>
              <a:srgbClr val="1A3A6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5" name="Text 52"/>
          <p:cNvSpPr/>
          <p:nvPr/>
        </p:nvSpPr>
        <p:spPr>
          <a:xfrm>
            <a:off x="3278886" y="6066850"/>
            <a:ext cx="640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一意</a:t>
            </a:r>
            <a:endParaRPr lang="en-US" sz="750" dirty="0"/>
          </a:p>
        </p:txBody>
      </p:sp>
      <p:sp>
        <p:nvSpPr>
          <p:cNvPr id="56" name="Shape 53"/>
          <p:cNvSpPr/>
          <p:nvPr/>
        </p:nvSpPr>
        <p:spPr>
          <a:xfrm>
            <a:off x="4330446" y="5353618"/>
            <a:ext cx="1335024" cy="868680"/>
          </a:xfrm>
          <a:prstGeom prst="rect">
            <a:avLst/>
          </a:prstGeom>
          <a:solidFill>
            <a:srgbClr val="FAEEDA"/>
          </a:solidFill>
          <a:ln w="12700">
            <a:solidFill>
              <a:srgbClr val="C0C8D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7" name="Shape 54"/>
          <p:cNvSpPr/>
          <p:nvPr/>
        </p:nvSpPr>
        <p:spPr>
          <a:xfrm>
            <a:off x="4330446" y="5353618"/>
            <a:ext cx="1335024" cy="237744"/>
          </a:xfrm>
          <a:prstGeom prst="rect">
            <a:avLst/>
          </a:prstGeom>
          <a:solidFill>
            <a:srgbClr val="C05000"/>
          </a:solidFill>
          <a:ln w="12700">
            <a:solidFill>
              <a:srgbClr val="C0500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8" name="Text 55"/>
          <p:cNvSpPr/>
          <p:nvPr/>
        </p:nvSpPr>
        <p:spPr>
          <a:xfrm>
            <a:off x="4330446" y="5353618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8桁・末尾数字</a:t>
            </a:r>
            <a:endParaRPr lang="en-US" sz="850" dirty="0"/>
          </a:p>
        </p:txBody>
      </p:sp>
      <p:sp>
        <p:nvSpPr>
          <p:cNvPr id="59" name="Text 56"/>
          <p:cNvSpPr/>
          <p:nvPr/>
        </p:nvSpPr>
        <p:spPr>
          <a:xfrm>
            <a:off x="4330446" y="5591362"/>
            <a:ext cx="13350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050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↓</a:t>
            </a:r>
            <a:endParaRPr lang="en-US" sz="1100" dirty="0"/>
          </a:p>
        </p:txBody>
      </p:sp>
      <p:sp>
        <p:nvSpPr>
          <p:cNvPr id="60" name="Text 57"/>
          <p:cNvSpPr/>
          <p:nvPr/>
        </p:nvSpPr>
        <p:spPr>
          <a:xfrm>
            <a:off x="4376166" y="5774242"/>
            <a:ext cx="12435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050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Lv.500 / 1250</a:t>
            </a:r>
            <a:endParaRPr lang="en-US" sz="900" dirty="0"/>
          </a:p>
        </p:txBody>
      </p:sp>
      <p:sp>
        <p:nvSpPr>
          <p:cNvPr id="61" name="Shape 58"/>
          <p:cNvSpPr/>
          <p:nvPr/>
        </p:nvSpPr>
        <p:spPr>
          <a:xfrm>
            <a:off x="4677918" y="6066850"/>
            <a:ext cx="640080" cy="137160"/>
          </a:xfrm>
          <a:prstGeom prst="roundRect">
            <a:avLst>
              <a:gd name="adj" fmla="val 26667"/>
            </a:avLst>
          </a:prstGeom>
          <a:solidFill>
            <a:srgbClr val="C05000"/>
          </a:solidFill>
          <a:ln w="12700">
            <a:solidFill>
              <a:srgbClr val="C0500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2" name="Text 59"/>
          <p:cNvSpPr/>
          <p:nvPr/>
        </p:nvSpPr>
        <p:spPr>
          <a:xfrm>
            <a:off x="4677918" y="6066850"/>
            <a:ext cx="640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要区別</a:t>
            </a:r>
            <a:endParaRPr lang="en-US" sz="750" dirty="0"/>
          </a:p>
        </p:txBody>
      </p:sp>
      <p:sp>
        <p:nvSpPr>
          <p:cNvPr id="63" name="Shape 60"/>
          <p:cNvSpPr/>
          <p:nvPr/>
        </p:nvSpPr>
        <p:spPr>
          <a:xfrm>
            <a:off x="133350" y="6356641"/>
            <a:ext cx="5806440" cy="402336"/>
          </a:xfrm>
          <a:prstGeom prst="rect">
            <a:avLst/>
          </a:prstGeom>
          <a:solidFill>
            <a:srgbClr val="F4F6FB"/>
          </a:solidFill>
          <a:ln w="12700">
            <a:solidFill>
              <a:srgbClr val="C0C8D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4" name="Shape 61"/>
          <p:cNvSpPr/>
          <p:nvPr/>
        </p:nvSpPr>
        <p:spPr>
          <a:xfrm>
            <a:off x="133350" y="6337591"/>
            <a:ext cx="45720" cy="402336"/>
          </a:xfrm>
          <a:prstGeom prst="rect">
            <a:avLst/>
          </a:prstGeom>
          <a:solidFill>
            <a:srgbClr val="C05000"/>
          </a:solidFill>
          <a:ln w="12700">
            <a:solidFill>
              <a:srgbClr val="C0500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5" name="Text 62"/>
          <p:cNvSpPr/>
          <p:nvPr/>
        </p:nvSpPr>
        <p:spPr>
          <a:xfrm>
            <a:off x="224790" y="6337591"/>
            <a:ext cx="5669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050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500 vs 1250：</a:t>
            </a:r>
            <a:r>
              <a:rPr lang="en-US" sz="900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7桁目までが有効な2500コードと一致すれば Lv.1250、そうでなければ Lv.500。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304</Words>
  <Application>Microsoft Office PowerPoint</Application>
  <PresentationFormat>ユーザー設定</PresentationFormat>
  <Paragraphs>62</Paragraphs>
  <Slides>1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4" baseType="lpstr">
      <vt:lpstr>Yu Gothic</vt:lpstr>
      <vt:lpstr>Arial</vt:lpstr>
      <vt:lpstr>Office Theme</vt:lpstr>
      <vt:lpstr>PowerPoint プレゼンテーション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Ryota Nishiguchi(西口　亮太)</cp:lastModifiedBy>
  <cp:revision>3</cp:revision>
  <cp:lastPrinted>2026-05-28T01:58:10Z</cp:lastPrinted>
  <dcterms:created xsi:type="dcterms:W3CDTF">2026-05-25T08:33:28Z</dcterms:created>
  <dcterms:modified xsi:type="dcterms:W3CDTF">2026-05-28T02:31:17Z</dcterms:modified>
</cp:coreProperties>
</file>